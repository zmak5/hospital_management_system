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jpeg" ContentType="image/jpeg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_rels/notesSlide9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9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fr-FR" sz="1800" spc="-1" strike="noStrike">
                <a:solidFill>
                  <a:schemeClr val="dk1"/>
                </a:solidFill>
                <a:latin typeface="Calibri"/>
              </a:rPr>
              <a:t>Cliquez pour déplacer la diapo</a:t>
            </a:r>
            <a:endParaRPr b="0" lang="fr-FR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Cliquez pour modifier le format des notes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&lt;en-tête&gt;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&lt;date/heure&gt;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7C02DF1C-C6D6-439B-B9F1-78302622206B}" type="slidenum"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&lt;numéro&gt;</a:t>
            </a:fld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3C9BE82-6FB4-4EC2-B5D6-ADB4F30AC26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F616F1D-236A-404C-8F3C-8C0ADB7B1A6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B713996-5DEE-41B0-ACDF-782AE646011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C279F80-4442-4791-A98B-54CE1D8D162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D768805-E609-4BAF-A9D7-2A6F28335CB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3CEC895-A27D-449C-8666-82C1FE9060C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3C9B6C7-79CE-4A1C-8C4E-8AD6FDA8197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18DA79C-F7FE-430B-AACE-74532A7D7C8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D907B6F-17E9-4DB8-9A47-F2D9D4B01FB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fr-FR" sz="1800" spc="-1" strike="noStrike">
                <a:solidFill>
                  <a:schemeClr val="dk1"/>
                </a:solidFill>
                <a:latin typeface="Calibri"/>
              </a:rPr>
              <a:t>Cliquez pour éditer le format du texte-titre</a:t>
            </a:r>
            <a:endParaRPr b="0" lang="fr-FR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905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Cliquez pour éditer le format du plan de texte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400" spc="-1" strike="noStrike">
                <a:solidFill>
                  <a:schemeClr val="dk1"/>
                </a:solidFill>
                <a:latin typeface="Calibri"/>
              </a:rPr>
              <a:t>Second niveau de plan</a:t>
            </a:r>
            <a:endParaRPr b="0" lang="fr-FR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chemeClr val="dk1"/>
                </a:solidFill>
                <a:latin typeface="Calibri"/>
              </a:rPr>
              <a:t>Troisième niveau de plan</a:t>
            </a:r>
            <a:endParaRPr b="0" lang="fr-FR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000" spc="-1" strike="noStrike">
                <a:solidFill>
                  <a:schemeClr val="dk1"/>
                </a:solidFill>
                <a:latin typeface="Calibri"/>
              </a:rPr>
              <a:t>Quatrième niveau de plan</a:t>
            </a:r>
            <a:endParaRPr b="0" lang="fr-FR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chemeClr val="dk1"/>
                </a:solidFill>
                <a:latin typeface="Calibri"/>
              </a:rPr>
              <a:t>Cinquième niveau de plan</a:t>
            </a:r>
            <a:endParaRPr b="0" lang="fr-FR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chemeClr val="dk1"/>
                </a:solidFill>
                <a:latin typeface="Calibri"/>
              </a:rPr>
              <a:t>Sixième niveau de plan</a:t>
            </a:r>
            <a:endParaRPr b="0" lang="fr-FR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chemeClr val="dk1"/>
                </a:solidFill>
                <a:latin typeface="Calibri"/>
              </a:rPr>
              <a:t>Septième niveau de plan</a:t>
            </a:r>
            <a:endParaRPr b="0" lang="fr-FR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c4a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274320" y="1371600"/>
            <a:ext cx="136800" cy="1096920"/>
          </a:xfrm>
          <a:prstGeom prst="rect">
            <a:avLst/>
          </a:prstGeom>
          <a:solidFill>
            <a:srgbClr val="06b6d4">
              <a:alpha val="8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Shape 1"/>
          <p:cNvSpPr/>
          <p:nvPr/>
        </p:nvSpPr>
        <p:spPr>
          <a:xfrm>
            <a:off x="182880" y="1828800"/>
            <a:ext cx="319680" cy="182520"/>
          </a:xfrm>
          <a:prstGeom prst="rect">
            <a:avLst/>
          </a:prstGeom>
          <a:solidFill>
            <a:srgbClr val="06b6d4">
              <a:alpha val="8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Text 2"/>
          <p:cNvSpPr/>
          <p:nvPr/>
        </p:nvSpPr>
        <p:spPr>
          <a:xfrm>
            <a:off x="1145160" y="708840"/>
            <a:ext cx="73148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800" spc="-1" strike="noStrike">
                <a:solidFill>
                  <a:srgbClr val="ffffff"/>
                </a:solidFill>
                <a:latin typeface="Calibri"/>
              </a:rPr>
              <a:t>HOSPITAL MANAGEMENT SYSTEM</a:t>
            </a:r>
            <a:endParaRPr b="0" lang="fr-FR" sz="4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Text 3"/>
          <p:cNvSpPr/>
          <p:nvPr/>
        </p:nvSpPr>
        <p:spPr>
          <a:xfrm>
            <a:off x="1260000" y="2194560"/>
            <a:ext cx="7314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06b6d4"/>
                </a:solidFill>
                <a:latin typeface="Calibri"/>
              </a:rPr>
              <a:t>Database Design &amp; Implementation</a:t>
            </a:r>
            <a:endParaRPr b="0" lang="fr-FR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Text 4"/>
          <p:cNvSpPr/>
          <p:nvPr/>
        </p:nvSpPr>
        <p:spPr>
          <a:xfrm>
            <a:off x="1260000" y="2926080"/>
            <a:ext cx="7314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2401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ffff"/>
                </a:solidFill>
                <a:latin typeface="Calibri"/>
              </a:rPr>
              <a:t>CS27 – The Relational Model &amp; Databases</a:t>
            </a:r>
            <a:endParaRPr b="0" lang="fr-FR" sz="16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2401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ffff"/>
                </a:solidFill>
                <a:latin typeface="Calibri"/>
              </a:rPr>
              <a:t>End-of-Semester Group Project</a:t>
            </a:r>
            <a:endParaRPr b="0" lang="fr-FR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Shape 5"/>
          <p:cNvSpPr/>
          <p:nvPr/>
        </p:nvSpPr>
        <p:spPr>
          <a:xfrm>
            <a:off x="1325160" y="3780000"/>
            <a:ext cx="7314840" cy="822600"/>
          </a:xfrm>
          <a:prstGeom prst="rect">
            <a:avLst/>
          </a:prstGeom>
          <a:solidFill>
            <a:srgbClr val="4f81bd">
              <a:alpha val="9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Text 6"/>
          <p:cNvSpPr/>
          <p:nvPr/>
        </p:nvSpPr>
        <p:spPr>
          <a:xfrm>
            <a:off x="1554480" y="3931920"/>
            <a:ext cx="69490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6b6d4"/>
                </a:solidFill>
                <a:latin typeface="Calibri"/>
              </a:rPr>
              <a:t>GROUP MEMBERS: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Text 7"/>
          <p:cNvSpPr/>
          <p:nvPr/>
        </p:nvSpPr>
        <p:spPr>
          <a:xfrm>
            <a:off x="1554480" y="4206240"/>
            <a:ext cx="6949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Calibri"/>
              </a:rPr>
              <a:t>ZARAINI M. A. Kader (Leader) • TRAORE Z. Mathias • NOMBRE Ange C. • NKUNA Isrël • NACOULMA Betsaleel • OUEDRAOGO Jonathan • BASSINGA Keya</a:t>
            </a:r>
            <a:endParaRPr b="0" lang="fr-FR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Text 8"/>
          <p:cNvSpPr/>
          <p:nvPr/>
        </p:nvSpPr>
        <p:spPr>
          <a:xfrm>
            <a:off x="457200" y="475488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06b6d4"/>
                </a:solidFill>
                <a:latin typeface="Calibri"/>
              </a:rPr>
              <a:t>Burkina Institute of Technology | Instructor: Kweyakie Afi Blebo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0"/>
          <p:cNvSpPr/>
          <p:nvPr/>
        </p:nvSpPr>
        <p:spPr>
          <a:xfrm>
            <a:off x="0" y="0"/>
            <a:ext cx="9143640" cy="639720"/>
          </a:xfrm>
          <a:prstGeom prst="rect">
            <a:avLst/>
          </a:prstGeom>
          <a:solidFill>
            <a:srgbClr val="0c4a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Text 1"/>
          <p:cNvSpPr/>
          <p:nvPr/>
        </p:nvSpPr>
        <p:spPr>
          <a:xfrm>
            <a:off x="457200" y="13716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Calibri"/>
              </a:rPr>
              <a:t>Problem Statement &amp; Objectives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Text 2"/>
          <p:cNvSpPr/>
          <p:nvPr/>
        </p:nvSpPr>
        <p:spPr>
          <a:xfrm>
            <a:off x="457200" y="900000"/>
            <a:ext cx="4114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0c4a6e"/>
                </a:solidFill>
                <a:latin typeface="Calibri"/>
              </a:rPr>
              <a:t>CHALLENGES IN HOSPITAL DATA MANAGEMENT: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Text 3"/>
          <p:cNvSpPr/>
          <p:nvPr/>
        </p:nvSpPr>
        <p:spPr>
          <a:xfrm>
            <a:off x="457200" y="1554480"/>
            <a:ext cx="4114440" cy="274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rgbClr val="1e293b"/>
                </a:solidFill>
                <a:latin typeface="Calibri"/>
              </a:rPr>
              <a:t>Patient Information Management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34155"/>
                </a:solidFill>
                <a:latin typeface="Calibri"/>
              </a:rPr>
              <a:t>Tracking thousands of patients with complete medical histories, allergies, blood types, and emergency contacts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e293b"/>
                </a:solidFill>
                <a:latin typeface="Calibri"/>
              </a:rPr>
              <a:t> 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en-US" sz="1400" spc="-1" strike="noStrike">
                <a:solidFill>
                  <a:srgbClr val="1e293b"/>
                </a:solidFill>
                <a:latin typeface="Calibri"/>
              </a:rPr>
              <a:t>Appointment Scheduling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34155"/>
                </a:solidFill>
                <a:latin typeface="Calibri"/>
              </a:rPr>
              <a:t>Coordinating schedules between patients and doctors across multiple departments while avoiding conflicts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e293b"/>
                </a:solidFill>
                <a:latin typeface="Calibri"/>
              </a:rPr>
              <a:t> 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en-US" sz="1400" spc="-1" strike="noStrike">
                <a:solidFill>
                  <a:srgbClr val="1e293b"/>
                </a:solidFill>
                <a:latin typeface="Calibri"/>
              </a:rPr>
              <a:t>Prescription Tracking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34155"/>
                </a:solidFill>
                <a:latin typeface="Calibri"/>
              </a:rPr>
              <a:t>Ensuring every medication prescribed is properly documented and traceable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e293b"/>
                </a:solidFill>
                <a:latin typeface="Calibri"/>
              </a:rPr>
              <a:t> 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en-US" sz="1400" spc="-1" strike="noStrike">
                <a:solidFill>
                  <a:srgbClr val="1e293b"/>
                </a:solidFill>
                <a:latin typeface="Calibri"/>
              </a:rPr>
              <a:t>Medical Records Management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34155"/>
                </a:solidFill>
                <a:latin typeface="Calibri"/>
              </a:rPr>
              <a:t>Maintaining comprehensive, searchable patient history over time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Shape 4"/>
          <p:cNvSpPr/>
          <p:nvPr/>
        </p:nvSpPr>
        <p:spPr>
          <a:xfrm>
            <a:off x="4846320" y="1097280"/>
            <a:ext cx="3840120" cy="320004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4c7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Text 5"/>
          <p:cNvSpPr/>
          <p:nvPr/>
        </p:nvSpPr>
        <p:spPr>
          <a:xfrm>
            <a:off x="5029200" y="1280160"/>
            <a:ext cx="3474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0c4a6e"/>
                </a:solidFill>
                <a:latin typeface="Calibri"/>
              </a:rPr>
              <a:t>OUR SOLUTION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Text 6"/>
          <p:cNvSpPr/>
          <p:nvPr/>
        </p:nvSpPr>
        <p:spPr>
          <a:xfrm>
            <a:off x="5029200" y="1737360"/>
            <a:ext cx="347436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334155"/>
                </a:solidFill>
                <a:latin typeface="Calibri"/>
              </a:rPr>
              <a:t>6 Interconnected Tables: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059669"/>
                </a:solidFill>
                <a:latin typeface="Calibri"/>
              </a:rPr>
              <a:t>✓ </a:t>
            </a:r>
            <a:r>
              <a:rPr b="0" lang="en-US" sz="1200" spc="-1" strike="noStrike">
                <a:solidFill>
                  <a:srgbClr val="059669"/>
                </a:solidFill>
                <a:latin typeface="Calibri"/>
              </a:rPr>
              <a:t>Patients - Complete patient profiles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059669"/>
                </a:solidFill>
                <a:latin typeface="Calibri"/>
              </a:rPr>
              <a:t>✓ </a:t>
            </a:r>
            <a:r>
              <a:rPr b="0" lang="en-US" sz="1200" spc="-1" strike="noStrike">
                <a:solidFill>
                  <a:srgbClr val="059669"/>
                </a:solidFill>
                <a:latin typeface="Calibri"/>
              </a:rPr>
              <a:t>Doctors - Healthcare provider data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059669"/>
                </a:solidFill>
                <a:latin typeface="Calibri"/>
              </a:rPr>
              <a:t>✓ </a:t>
            </a:r>
            <a:r>
              <a:rPr b="0" lang="en-US" sz="1200" spc="-1" strike="noStrike">
                <a:solidFill>
                  <a:srgbClr val="059669"/>
                </a:solidFill>
                <a:latin typeface="Calibri"/>
              </a:rPr>
              <a:t>Departments - Hospital organization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059669"/>
                </a:solidFill>
                <a:latin typeface="Calibri"/>
              </a:rPr>
              <a:t>✓ </a:t>
            </a:r>
            <a:r>
              <a:rPr b="0" lang="en-US" sz="1200" spc="-1" strike="noStrike">
                <a:solidFill>
                  <a:srgbClr val="059669"/>
                </a:solidFill>
                <a:latin typeface="Calibri"/>
              </a:rPr>
              <a:t>Appointments - Scheduling system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059669"/>
                </a:solidFill>
                <a:latin typeface="Calibri"/>
              </a:rPr>
              <a:t>✓ </a:t>
            </a:r>
            <a:r>
              <a:rPr b="0" lang="en-US" sz="1200" spc="-1" strike="noStrike">
                <a:solidFill>
                  <a:srgbClr val="059669"/>
                </a:solidFill>
                <a:latin typeface="Calibri"/>
              </a:rPr>
              <a:t>Prescriptions - Medication tracking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059669"/>
                </a:solidFill>
                <a:latin typeface="Calibri"/>
              </a:rPr>
              <a:t>✓ </a:t>
            </a:r>
            <a:r>
              <a:rPr b="0" lang="en-US" sz="1200" spc="-1" strike="noStrike">
                <a:solidFill>
                  <a:srgbClr val="059669"/>
                </a:solidFill>
                <a:latin typeface="Calibri"/>
              </a:rPr>
              <a:t>Medical Records - Patient history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34155"/>
                </a:solidFill>
                <a:latin typeface="Calibri"/>
              </a:rPr>
              <a:t> 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334155"/>
                </a:solidFill>
                <a:latin typeface="Calibri"/>
              </a:rPr>
              <a:t>Benefits: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34155"/>
                </a:solidFill>
                <a:latin typeface="Calibri"/>
              </a:rPr>
              <a:t>• </a:t>
            </a:r>
            <a:r>
              <a:rPr b="0" lang="en-US" sz="1200" spc="-1" strike="noStrike">
                <a:solidFill>
                  <a:srgbClr val="334155"/>
                </a:solidFill>
                <a:latin typeface="Calibri"/>
              </a:rPr>
              <a:t>Zero data redundancy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34155"/>
                </a:solidFill>
                <a:latin typeface="Calibri"/>
              </a:rPr>
              <a:t>• </a:t>
            </a:r>
            <a:r>
              <a:rPr b="0" lang="en-US" sz="1200" spc="-1" strike="noStrike">
                <a:solidFill>
                  <a:srgbClr val="334155"/>
                </a:solidFill>
                <a:latin typeface="Calibri"/>
              </a:rPr>
              <a:t>Enforced referential integrity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34155"/>
                </a:solidFill>
                <a:latin typeface="Calibri"/>
              </a:rPr>
              <a:t>• </a:t>
            </a:r>
            <a:r>
              <a:rPr b="0" lang="en-US" sz="1200" spc="-1" strike="noStrike">
                <a:solidFill>
                  <a:srgbClr val="334155"/>
                </a:solidFill>
                <a:latin typeface="Calibri"/>
              </a:rPr>
              <a:t>Fast, efficient queries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34155"/>
                </a:solidFill>
                <a:latin typeface="Calibri"/>
              </a:rPr>
              <a:t>• </a:t>
            </a:r>
            <a:r>
              <a:rPr b="0" lang="en-US" sz="1200" spc="-1" strike="noStrike">
                <a:solidFill>
                  <a:srgbClr val="334155"/>
                </a:solidFill>
                <a:latin typeface="Calibri"/>
              </a:rPr>
              <a:t>Scalable architecture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0"/>
          <p:cNvSpPr/>
          <p:nvPr/>
        </p:nvSpPr>
        <p:spPr>
          <a:xfrm>
            <a:off x="0" y="0"/>
            <a:ext cx="9143640" cy="639720"/>
          </a:xfrm>
          <a:prstGeom prst="rect">
            <a:avLst/>
          </a:prstGeom>
          <a:solidFill>
            <a:srgbClr val="0c4a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Text 1"/>
          <p:cNvSpPr/>
          <p:nvPr/>
        </p:nvSpPr>
        <p:spPr>
          <a:xfrm>
            <a:off x="457200" y="13716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Calibri"/>
              </a:rPr>
              <a:t>Database Schema &amp; Relationships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6" name="Schema Diagram" descr=""/>
          <p:cNvPicPr/>
          <p:nvPr/>
        </p:nvPicPr>
        <p:blipFill>
          <a:blip r:embed="rId1"/>
          <a:stretch/>
        </p:blipFill>
        <p:spPr>
          <a:xfrm>
            <a:off x="360000" y="720000"/>
            <a:ext cx="8380080" cy="3480840"/>
          </a:xfrm>
          <a:prstGeom prst="rect">
            <a:avLst/>
          </a:prstGeom>
          <a:ln w="0">
            <a:noFill/>
          </a:ln>
        </p:spPr>
      </p:pic>
      <p:sp>
        <p:nvSpPr>
          <p:cNvPr id="27" name="Text 4"/>
          <p:cNvSpPr/>
          <p:nvPr/>
        </p:nvSpPr>
        <p:spPr>
          <a:xfrm>
            <a:off x="277200" y="4572000"/>
            <a:ext cx="20628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c4a6e"/>
                </a:solidFill>
                <a:latin typeface="Calibri"/>
              </a:rPr>
              <a:t>KEY RELATIONSHIPS: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Text 5"/>
          <p:cNvSpPr/>
          <p:nvPr/>
        </p:nvSpPr>
        <p:spPr>
          <a:xfrm>
            <a:off x="2750760" y="4500000"/>
            <a:ext cx="8229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334155"/>
                </a:solidFill>
                <a:latin typeface="Calibri"/>
              </a:rPr>
              <a:t>Patients → Appointments (1:M) 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334155"/>
                </a:solidFill>
                <a:latin typeface="Calibri"/>
              </a:rPr>
              <a:t>Doctors → Appointments (1:M) 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334155"/>
                </a:solidFill>
                <a:latin typeface="Calibri"/>
              </a:rPr>
              <a:t>Departments → Doctors (1:M) 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334155"/>
                </a:solidFill>
                <a:latin typeface="Calibri"/>
              </a:rPr>
              <a:t>Appointments → Prescriptions (1:M) 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334155"/>
                </a:solidFill>
                <a:latin typeface="Calibri"/>
              </a:rPr>
              <a:t>Patients/Doctors → Medical Records (1:M) 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0"/>
          <p:cNvSpPr/>
          <p:nvPr/>
        </p:nvSpPr>
        <p:spPr>
          <a:xfrm rot="21598800">
            <a:off x="0" y="-181440"/>
            <a:ext cx="9180000" cy="1440000"/>
          </a:xfrm>
          <a:prstGeom prst="rect">
            <a:avLst/>
          </a:prstGeom>
          <a:solidFill>
            <a:srgbClr val="0c4a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" name="Text 1"/>
          <p:cNvSpPr/>
          <p:nvPr/>
        </p:nvSpPr>
        <p:spPr>
          <a:xfrm>
            <a:off x="457200" y="13716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Calibri"/>
              </a:rPr>
              <a:t>Normalization: The Problem (Denormalized Table)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Text 3"/>
          <p:cNvSpPr/>
          <p:nvPr/>
        </p:nvSpPr>
        <p:spPr>
          <a:xfrm>
            <a:off x="6660000" y="446040"/>
            <a:ext cx="40428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</a:rPr>
              <a:t>Appt_ID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</a:rPr>
              <a:t>Patient_Name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</a:rPr>
              <a:t>Patient_Phone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</a:rPr>
              <a:t>Doctor_Name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</a:rPr>
              <a:t>Specialization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</a:rPr>
              <a:t>Dept_Name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</a:rPr>
              <a:t>Medication1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</a:rPr>
              <a:t>Medication2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Shape 4"/>
          <p:cNvSpPr/>
          <p:nvPr/>
        </p:nvSpPr>
        <p:spPr>
          <a:xfrm>
            <a:off x="457200" y="1480320"/>
            <a:ext cx="8229240" cy="319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4c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Text 5"/>
          <p:cNvSpPr/>
          <p:nvPr/>
        </p:nvSpPr>
        <p:spPr>
          <a:xfrm>
            <a:off x="548640" y="1463040"/>
            <a:ext cx="80463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1e293b"/>
                </a:solidFill>
                <a:latin typeface="Calibri"/>
              </a:rPr>
              <a:t>1 | Alice Kabore | 70123456 | Dr. Ouedraogo | Cardiology | Cardiology Dept | Aspirin, Metoprolol | ...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Shape 6"/>
          <p:cNvSpPr/>
          <p:nvPr/>
        </p:nvSpPr>
        <p:spPr>
          <a:xfrm>
            <a:off x="457200" y="1800000"/>
            <a:ext cx="8229240" cy="319680"/>
          </a:xfrm>
          <a:prstGeom prst="rect">
            <a:avLst/>
          </a:prstGeom>
          <a:solidFill>
            <a:srgbClr val="f1f5f9"/>
          </a:solidFill>
          <a:ln w="12700">
            <a:solidFill>
              <a:srgbClr val="0284c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Text 7"/>
          <p:cNvSpPr/>
          <p:nvPr/>
        </p:nvSpPr>
        <p:spPr>
          <a:xfrm>
            <a:off x="548640" y="1783080"/>
            <a:ext cx="80463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1e293b"/>
                </a:solidFill>
                <a:latin typeface="Calibri"/>
              </a:rPr>
              <a:t>2 | Bob Traore | 70234567 | Dr. Sawadogo | Pediatrics | Pediatrics Dept | Amoxicillin | ...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Text 8"/>
          <p:cNvSpPr/>
          <p:nvPr/>
        </p:nvSpPr>
        <p:spPr>
          <a:xfrm>
            <a:off x="410760" y="215460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dc2626"/>
                </a:solidFill>
                <a:latin typeface="Calibri"/>
              </a:rPr>
              <a:t>PROBLEMS WITH THIS DESIGN: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Text 9"/>
          <p:cNvSpPr/>
          <p:nvPr/>
        </p:nvSpPr>
        <p:spPr>
          <a:xfrm>
            <a:off x="457200" y="2757240"/>
            <a:ext cx="822924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dc2626"/>
                </a:solidFill>
                <a:latin typeface="Calibri"/>
              </a:rPr>
              <a:t>❌ </a:t>
            </a:r>
            <a:r>
              <a:rPr b="1" lang="en-US" sz="1200" spc="-1" strike="noStrike">
                <a:solidFill>
                  <a:srgbClr val="dc2626"/>
                </a:solidFill>
                <a:latin typeface="Calibri"/>
              </a:rPr>
              <a:t>1NF Violation: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34155"/>
                </a:solidFill>
                <a:latin typeface="Calibri"/>
              </a:rPr>
              <a:t>Repeating columns (Medication1, Medication2...) and multi-value cells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34155"/>
                </a:solidFill>
                <a:latin typeface="Calibri"/>
              </a:rPr>
              <a:t> 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dc2626"/>
                </a:solidFill>
                <a:latin typeface="Calibri"/>
              </a:rPr>
              <a:t>❌ </a:t>
            </a:r>
            <a:r>
              <a:rPr b="1" lang="en-US" sz="1200" spc="-1" strike="noStrike">
                <a:solidFill>
                  <a:srgbClr val="dc2626"/>
                </a:solidFill>
                <a:latin typeface="Calibri"/>
              </a:rPr>
              <a:t>2NF Violation: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34155"/>
                </a:solidFill>
                <a:latin typeface="Calibri"/>
              </a:rPr>
              <a:t>Partial dependencies - Patient_Phone depends only on Patient_Name, not the full key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34155"/>
                </a:solidFill>
                <a:latin typeface="Calibri"/>
              </a:rPr>
              <a:t> 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dc2626"/>
                </a:solidFill>
                <a:latin typeface="Calibri"/>
              </a:rPr>
              <a:t>❌ </a:t>
            </a:r>
            <a:r>
              <a:rPr b="1" lang="en-US" sz="1200" spc="-1" strike="noStrike">
                <a:solidFill>
                  <a:srgbClr val="dc2626"/>
                </a:solidFill>
                <a:latin typeface="Calibri"/>
              </a:rPr>
              <a:t>3NF Violation: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34155"/>
                </a:solidFill>
                <a:latin typeface="Calibri"/>
              </a:rPr>
              <a:t>Transitive dependency - Dept_Name depends on Doctor_Name, not Appt_ID directly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34155"/>
                </a:solidFill>
                <a:latin typeface="Calibri"/>
              </a:rPr>
              <a:t> 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dc2626"/>
                </a:solidFill>
                <a:latin typeface="Calibri"/>
              </a:rPr>
              <a:t>❌ </a:t>
            </a:r>
            <a:r>
              <a:rPr b="1" lang="en-US" sz="1200" spc="-1" strike="noStrike">
                <a:solidFill>
                  <a:srgbClr val="dc2626"/>
                </a:solidFill>
                <a:latin typeface="Calibri"/>
              </a:rPr>
              <a:t>Massive Redundancy: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34155"/>
                </a:solidFill>
                <a:latin typeface="Calibri"/>
              </a:rPr>
              <a:t>Department names repeated hundreds of times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34155"/>
                </a:solidFill>
                <a:latin typeface="Calibri"/>
              </a:rPr>
              <a:t> 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dc2626"/>
                </a:solidFill>
                <a:latin typeface="Calibri"/>
              </a:rPr>
              <a:t>❌ </a:t>
            </a:r>
            <a:r>
              <a:rPr b="1" lang="en-US" sz="1200" spc="-1" strike="noStrike">
                <a:solidFill>
                  <a:srgbClr val="dc2626"/>
                </a:solidFill>
                <a:latin typeface="Calibri"/>
              </a:rPr>
              <a:t>Update Anomalies: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34155"/>
                </a:solidFill>
                <a:latin typeface="Calibri"/>
              </a:rPr>
              <a:t>Changing a patient's phone number requires updating multiple rows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0"/>
          <p:cNvSpPr/>
          <p:nvPr/>
        </p:nvSpPr>
        <p:spPr>
          <a:xfrm>
            <a:off x="-23760" y="-405720"/>
            <a:ext cx="9203760" cy="1125720"/>
          </a:xfrm>
          <a:prstGeom prst="rect">
            <a:avLst/>
          </a:prstGeom>
          <a:solidFill>
            <a:srgbClr val="0c4a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" name="Text 1"/>
          <p:cNvSpPr/>
          <p:nvPr/>
        </p:nvSpPr>
        <p:spPr>
          <a:xfrm>
            <a:off x="380880" y="-13896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Calibri"/>
              </a:rPr>
              <a:t>Normalization: The Solution (Normalized Schema)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Shape 2"/>
          <p:cNvSpPr/>
          <p:nvPr/>
        </p:nvSpPr>
        <p:spPr>
          <a:xfrm>
            <a:off x="457200" y="914400"/>
            <a:ext cx="2742840" cy="91404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4c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Shape 3"/>
          <p:cNvSpPr/>
          <p:nvPr/>
        </p:nvSpPr>
        <p:spPr>
          <a:xfrm>
            <a:off x="457200" y="914400"/>
            <a:ext cx="2742840" cy="228240"/>
          </a:xfrm>
          <a:prstGeom prst="rect">
            <a:avLst/>
          </a:prstGeom>
          <a:solidFill>
            <a:srgbClr val="0c4a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" name="Text 4"/>
          <p:cNvSpPr/>
          <p:nvPr/>
        </p:nvSpPr>
        <p:spPr>
          <a:xfrm>
            <a:off x="457200" y="932760"/>
            <a:ext cx="27428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</a:rPr>
              <a:t>PATIENTS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Text 5"/>
          <p:cNvSpPr/>
          <p:nvPr/>
        </p:nvSpPr>
        <p:spPr>
          <a:xfrm>
            <a:off x="548640" y="1188720"/>
            <a:ext cx="25599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334155"/>
                </a:solidFill>
                <a:latin typeface="Calibri"/>
              </a:rPr>
              <a:t>patient_id (PK)</a:t>
            </a:r>
            <a:endParaRPr b="0" lang="fr-FR" sz="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334155"/>
                </a:solidFill>
                <a:latin typeface="Calibri"/>
              </a:rPr>
              <a:t>first_name</a:t>
            </a:r>
            <a:endParaRPr b="0" lang="fr-FR" sz="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334155"/>
                </a:solidFill>
                <a:latin typeface="Calibri"/>
              </a:rPr>
              <a:t>last_name</a:t>
            </a:r>
            <a:endParaRPr b="0" lang="fr-FR" sz="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334155"/>
                </a:solidFill>
                <a:latin typeface="Calibri"/>
              </a:rPr>
              <a:t>phone</a:t>
            </a:r>
            <a:endParaRPr b="0" lang="fr-FR" sz="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334155"/>
                </a:solidFill>
                <a:latin typeface="Calibri"/>
              </a:rPr>
              <a:t>...</a:t>
            </a:r>
            <a:endParaRPr b="0" lang="fr-F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Shape 6"/>
          <p:cNvSpPr/>
          <p:nvPr/>
        </p:nvSpPr>
        <p:spPr>
          <a:xfrm>
            <a:off x="3383280" y="914400"/>
            <a:ext cx="2742840" cy="91404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4c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Shape 7"/>
          <p:cNvSpPr/>
          <p:nvPr/>
        </p:nvSpPr>
        <p:spPr>
          <a:xfrm>
            <a:off x="3383280" y="914400"/>
            <a:ext cx="2742840" cy="228240"/>
          </a:xfrm>
          <a:prstGeom prst="rect">
            <a:avLst/>
          </a:prstGeom>
          <a:solidFill>
            <a:srgbClr val="0c4a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" name="Text 8"/>
          <p:cNvSpPr/>
          <p:nvPr/>
        </p:nvSpPr>
        <p:spPr>
          <a:xfrm>
            <a:off x="3383280" y="932760"/>
            <a:ext cx="27428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</a:rPr>
              <a:t>DEPARTMENTS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Text 9"/>
          <p:cNvSpPr/>
          <p:nvPr/>
        </p:nvSpPr>
        <p:spPr>
          <a:xfrm>
            <a:off x="3474720" y="1188720"/>
            <a:ext cx="25599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334155"/>
                </a:solidFill>
                <a:latin typeface="Calibri"/>
              </a:rPr>
              <a:t>department_id (PK)</a:t>
            </a:r>
            <a:endParaRPr b="0" lang="fr-FR" sz="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334155"/>
                </a:solidFill>
                <a:latin typeface="Calibri"/>
              </a:rPr>
              <a:t>name</a:t>
            </a:r>
            <a:endParaRPr b="0" lang="fr-FR" sz="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334155"/>
                </a:solidFill>
                <a:latin typeface="Calibri"/>
              </a:rPr>
              <a:t>location</a:t>
            </a:r>
            <a:endParaRPr b="0" lang="fr-FR" sz="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334155"/>
                </a:solidFill>
                <a:latin typeface="Calibri"/>
              </a:rPr>
              <a:t>...</a:t>
            </a:r>
            <a:endParaRPr b="0" lang="fr-F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Shape 10"/>
          <p:cNvSpPr/>
          <p:nvPr/>
        </p:nvSpPr>
        <p:spPr>
          <a:xfrm>
            <a:off x="457200" y="2103120"/>
            <a:ext cx="2742840" cy="91404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4c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Shape 11"/>
          <p:cNvSpPr/>
          <p:nvPr/>
        </p:nvSpPr>
        <p:spPr>
          <a:xfrm>
            <a:off x="457200" y="2103120"/>
            <a:ext cx="2742840" cy="228240"/>
          </a:xfrm>
          <a:prstGeom prst="rect">
            <a:avLst/>
          </a:prstGeom>
          <a:solidFill>
            <a:srgbClr val="0c4a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" name="Text 12"/>
          <p:cNvSpPr/>
          <p:nvPr/>
        </p:nvSpPr>
        <p:spPr>
          <a:xfrm>
            <a:off x="457200" y="2121480"/>
            <a:ext cx="27428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</a:rPr>
              <a:t>DOCTORS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Text 13"/>
          <p:cNvSpPr/>
          <p:nvPr/>
        </p:nvSpPr>
        <p:spPr>
          <a:xfrm>
            <a:off x="548640" y="2377440"/>
            <a:ext cx="25599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334155"/>
                </a:solidFill>
                <a:latin typeface="Calibri"/>
              </a:rPr>
              <a:t>doctor_id (PK)</a:t>
            </a:r>
            <a:endParaRPr b="0" lang="fr-FR" sz="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334155"/>
                </a:solidFill>
                <a:latin typeface="Calibri"/>
              </a:rPr>
              <a:t>first_name</a:t>
            </a:r>
            <a:endParaRPr b="0" lang="fr-FR" sz="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334155"/>
                </a:solidFill>
                <a:latin typeface="Calibri"/>
              </a:rPr>
              <a:t>last_name</a:t>
            </a:r>
            <a:endParaRPr b="0" lang="fr-FR" sz="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334155"/>
                </a:solidFill>
                <a:latin typeface="Calibri"/>
              </a:rPr>
              <a:t>department_id (FK)</a:t>
            </a:r>
            <a:endParaRPr b="0" lang="fr-FR" sz="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334155"/>
                </a:solidFill>
                <a:latin typeface="Calibri"/>
              </a:rPr>
              <a:t>...</a:t>
            </a:r>
            <a:endParaRPr b="0" lang="fr-F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Shape 14"/>
          <p:cNvSpPr/>
          <p:nvPr/>
        </p:nvSpPr>
        <p:spPr>
          <a:xfrm>
            <a:off x="3383280" y="2103120"/>
            <a:ext cx="2742840" cy="91404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4c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Shape 15"/>
          <p:cNvSpPr/>
          <p:nvPr/>
        </p:nvSpPr>
        <p:spPr>
          <a:xfrm>
            <a:off x="3383280" y="2103120"/>
            <a:ext cx="2742840" cy="228240"/>
          </a:xfrm>
          <a:prstGeom prst="rect">
            <a:avLst/>
          </a:prstGeom>
          <a:solidFill>
            <a:srgbClr val="0c4a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" name="Text 16"/>
          <p:cNvSpPr/>
          <p:nvPr/>
        </p:nvSpPr>
        <p:spPr>
          <a:xfrm>
            <a:off x="3383280" y="2121480"/>
            <a:ext cx="27428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</a:rPr>
              <a:t>APPOINTMENTS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Text 17"/>
          <p:cNvSpPr/>
          <p:nvPr/>
        </p:nvSpPr>
        <p:spPr>
          <a:xfrm>
            <a:off x="3474720" y="2377440"/>
            <a:ext cx="25599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334155"/>
                </a:solidFill>
                <a:latin typeface="Calibri"/>
              </a:rPr>
              <a:t>appointment_id (PK)</a:t>
            </a:r>
            <a:endParaRPr b="0" lang="fr-FR" sz="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334155"/>
                </a:solidFill>
                <a:latin typeface="Calibri"/>
              </a:rPr>
              <a:t>patient_id (FK)</a:t>
            </a:r>
            <a:endParaRPr b="0" lang="fr-FR" sz="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334155"/>
                </a:solidFill>
                <a:latin typeface="Calibri"/>
              </a:rPr>
              <a:t>doctor_id (FK)</a:t>
            </a:r>
            <a:endParaRPr b="0" lang="fr-FR" sz="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334155"/>
                </a:solidFill>
                <a:latin typeface="Calibri"/>
              </a:rPr>
              <a:t>date</a:t>
            </a:r>
            <a:endParaRPr b="0" lang="fr-FR" sz="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334155"/>
                </a:solidFill>
                <a:latin typeface="Calibri"/>
              </a:rPr>
              <a:t>...</a:t>
            </a:r>
            <a:endParaRPr b="0" lang="fr-F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Shape 18"/>
          <p:cNvSpPr/>
          <p:nvPr/>
        </p:nvSpPr>
        <p:spPr>
          <a:xfrm>
            <a:off x="457200" y="3291840"/>
            <a:ext cx="2742840" cy="91404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4c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Shape 19"/>
          <p:cNvSpPr/>
          <p:nvPr/>
        </p:nvSpPr>
        <p:spPr>
          <a:xfrm>
            <a:off x="457200" y="3291840"/>
            <a:ext cx="2742840" cy="228240"/>
          </a:xfrm>
          <a:prstGeom prst="rect">
            <a:avLst/>
          </a:prstGeom>
          <a:solidFill>
            <a:srgbClr val="0c4a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" name="Text 20"/>
          <p:cNvSpPr/>
          <p:nvPr/>
        </p:nvSpPr>
        <p:spPr>
          <a:xfrm>
            <a:off x="457200" y="3310200"/>
            <a:ext cx="27428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</a:rPr>
              <a:t>PRESCRIPTIONS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Text 21"/>
          <p:cNvSpPr/>
          <p:nvPr/>
        </p:nvSpPr>
        <p:spPr>
          <a:xfrm>
            <a:off x="548640" y="3566160"/>
            <a:ext cx="25599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334155"/>
                </a:solidFill>
                <a:latin typeface="Calibri"/>
              </a:rPr>
              <a:t>prescription_id (PK)</a:t>
            </a:r>
            <a:endParaRPr b="0" lang="fr-FR" sz="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334155"/>
                </a:solidFill>
                <a:latin typeface="Calibri"/>
              </a:rPr>
              <a:t>appointment_id (FK)</a:t>
            </a:r>
            <a:endParaRPr b="0" lang="fr-FR" sz="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334155"/>
                </a:solidFill>
                <a:latin typeface="Calibri"/>
              </a:rPr>
              <a:t>medication</a:t>
            </a:r>
            <a:endParaRPr b="0" lang="fr-FR" sz="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334155"/>
                </a:solidFill>
                <a:latin typeface="Calibri"/>
              </a:rPr>
              <a:t>...</a:t>
            </a:r>
            <a:endParaRPr b="0" lang="fr-F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Shape 22"/>
          <p:cNvSpPr/>
          <p:nvPr/>
        </p:nvSpPr>
        <p:spPr>
          <a:xfrm>
            <a:off x="3383280" y="3291840"/>
            <a:ext cx="2742840" cy="91404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4c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Shape 23"/>
          <p:cNvSpPr/>
          <p:nvPr/>
        </p:nvSpPr>
        <p:spPr>
          <a:xfrm>
            <a:off x="3383280" y="3291840"/>
            <a:ext cx="2742840" cy="228240"/>
          </a:xfrm>
          <a:prstGeom prst="rect">
            <a:avLst/>
          </a:prstGeom>
          <a:solidFill>
            <a:srgbClr val="0c4a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" name="Text 24"/>
          <p:cNvSpPr/>
          <p:nvPr/>
        </p:nvSpPr>
        <p:spPr>
          <a:xfrm>
            <a:off x="3383280" y="3310200"/>
            <a:ext cx="27428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</a:rPr>
              <a:t>MEDICAL_RECORDS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Text 25"/>
          <p:cNvSpPr/>
          <p:nvPr/>
        </p:nvSpPr>
        <p:spPr>
          <a:xfrm>
            <a:off x="3474720" y="3566160"/>
            <a:ext cx="25599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334155"/>
                </a:solidFill>
                <a:latin typeface="Calibri"/>
              </a:rPr>
              <a:t>record_id (PK)</a:t>
            </a:r>
            <a:endParaRPr b="0" lang="fr-FR" sz="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334155"/>
                </a:solidFill>
                <a:latin typeface="Calibri"/>
              </a:rPr>
              <a:t>patient_id (FK)</a:t>
            </a:r>
            <a:endParaRPr b="0" lang="fr-FR" sz="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334155"/>
                </a:solidFill>
                <a:latin typeface="Calibri"/>
              </a:rPr>
              <a:t>doctor_id (FK)</a:t>
            </a:r>
            <a:endParaRPr b="0" lang="fr-FR" sz="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334155"/>
                </a:solidFill>
                <a:latin typeface="Calibri"/>
              </a:rPr>
              <a:t>...</a:t>
            </a:r>
            <a:endParaRPr b="0" lang="fr-F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Text 26"/>
          <p:cNvSpPr/>
          <p:nvPr/>
        </p:nvSpPr>
        <p:spPr>
          <a:xfrm>
            <a:off x="457200" y="422604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59669"/>
                </a:solidFill>
                <a:latin typeface="Calibri"/>
              </a:rPr>
              <a:t>✓ </a:t>
            </a:r>
            <a:r>
              <a:rPr b="1" lang="en-US" sz="1400" spc="-1" strike="noStrike">
                <a:solidFill>
                  <a:srgbClr val="059669"/>
                </a:solidFill>
                <a:latin typeface="Calibri"/>
              </a:rPr>
              <a:t>BENEFITS OF NORMALIZATION: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Text 27"/>
          <p:cNvSpPr/>
          <p:nvPr/>
        </p:nvSpPr>
        <p:spPr>
          <a:xfrm>
            <a:off x="457200" y="457200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334155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334155"/>
                </a:solidFill>
                <a:latin typeface="Calibri"/>
              </a:rPr>
              <a:t>Zero Redundancy - Each fact stored exactly once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334155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334155"/>
                </a:solidFill>
                <a:latin typeface="Calibri"/>
              </a:rPr>
              <a:t>Data Integrity - Foreign keys prevent invalid references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334155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334155"/>
                </a:solidFill>
                <a:latin typeface="Calibri"/>
              </a:rPr>
              <a:t>Easy Updates - Change department name in one place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334155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334155"/>
                </a:solidFill>
                <a:latin typeface="Calibri"/>
              </a:rPr>
              <a:t>Scalability - Adding new entities is straightforward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Shape 0"/>
          <p:cNvSpPr/>
          <p:nvPr/>
        </p:nvSpPr>
        <p:spPr>
          <a:xfrm>
            <a:off x="0" y="0"/>
            <a:ext cx="9143640" cy="639720"/>
          </a:xfrm>
          <a:prstGeom prst="rect">
            <a:avLst/>
          </a:prstGeom>
          <a:solidFill>
            <a:srgbClr val="0c4a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" name="Text 1"/>
          <p:cNvSpPr/>
          <p:nvPr/>
        </p:nvSpPr>
        <p:spPr>
          <a:xfrm>
            <a:off x="457200" y="13716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Calibri"/>
              </a:rPr>
              <a:t>Key Design Decisions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Shape 2"/>
          <p:cNvSpPr/>
          <p:nvPr/>
        </p:nvSpPr>
        <p:spPr>
          <a:xfrm>
            <a:off x="457200" y="1005840"/>
            <a:ext cx="3931560" cy="164556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4c7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Shape 3"/>
          <p:cNvSpPr/>
          <p:nvPr/>
        </p:nvSpPr>
        <p:spPr>
          <a:xfrm>
            <a:off x="457200" y="1005840"/>
            <a:ext cx="3931560" cy="319680"/>
          </a:xfrm>
          <a:prstGeom prst="rect">
            <a:avLst/>
          </a:prstGeom>
          <a:solidFill>
            <a:srgbClr val="0284c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" name="Text 4"/>
          <p:cNvSpPr/>
          <p:nvPr/>
        </p:nvSpPr>
        <p:spPr>
          <a:xfrm>
            <a:off x="548640" y="1051560"/>
            <a:ext cx="37486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Foreign Key Constraints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Text 5"/>
          <p:cNvSpPr/>
          <p:nvPr/>
        </p:nvSpPr>
        <p:spPr>
          <a:xfrm>
            <a:off x="594360" y="1417320"/>
            <a:ext cx="365724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334155"/>
                </a:solidFill>
                <a:latin typeface="Calibri"/>
              </a:rPr>
              <a:t>• </a:t>
            </a:r>
            <a:r>
              <a:rPr b="0" lang="en-US" sz="1000" spc="-1" strike="noStrike">
                <a:solidFill>
                  <a:srgbClr val="334155"/>
                </a:solidFill>
                <a:latin typeface="Calibri"/>
              </a:rPr>
              <a:t>ON DELETE CASCADE for appointments and prescriptions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334155"/>
                </a:solidFill>
                <a:latin typeface="Calibri"/>
              </a:rPr>
              <a:t>• </a:t>
            </a:r>
            <a:r>
              <a:rPr b="0" lang="en-US" sz="1000" spc="-1" strike="noStrike">
                <a:solidFill>
                  <a:srgbClr val="334155"/>
                </a:solidFill>
                <a:latin typeface="Calibri"/>
              </a:rPr>
              <a:t>Ensures data consistency when records are removed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334155"/>
                </a:solidFill>
                <a:latin typeface="Calibri"/>
              </a:rPr>
              <a:t>• </a:t>
            </a:r>
            <a:r>
              <a:rPr b="0" lang="en-US" sz="1000" spc="-1" strike="noStrike">
                <a:solidFill>
                  <a:srgbClr val="334155"/>
                </a:solidFill>
                <a:latin typeface="Calibri"/>
              </a:rPr>
              <a:t>Prevents orphaned records in the database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Shape 6"/>
          <p:cNvSpPr/>
          <p:nvPr/>
        </p:nvSpPr>
        <p:spPr>
          <a:xfrm>
            <a:off x="4754880" y="1005840"/>
            <a:ext cx="3931560" cy="164556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4c7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Shape 7"/>
          <p:cNvSpPr/>
          <p:nvPr/>
        </p:nvSpPr>
        <p:spPr>
          <a:xfrm>
            <a:off x="4754880" y="1005840"/>
            <a:ext cx="3931560" cy="319680"/>
          </a:xfrm>
          <a:prstGeom prst="rect">
            <a:avLst/>
          </a:prstGeom>
          <a:solidFill>
            <a:srgbClr val="0284c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" name="Text 8"/>
          <p:cNvSpPr/>
          <p:nvPr/>
        </p:nvSpPr>
        <p:spPr>
          <a:xfrm>
            <a:off x="4846320" y="1051560"/>
            <a:ext cx="37486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Data Types Selection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Text 9"/>
          <p:cNvSpPr/>
          <p:nvPr/>
        </p:nvSpPr>
        <p:spPr>
          <a:xfrm>
            <a:off x="4892040" y="1417320"/>
            <a:ext cx="365724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334155"/>
                </a:solidFill>
                <a:latin typeface="Calibri"/>
              </a:rPr>
              <a:t>• </a:t>
            </a:r>
            <a:r>
              <a:rPr b="0" lang="en-US" sz="1000" spc="-1" strike="noStrike">
                <a:solidFill>
                  <a:srgbClr val="334155"/>
                </a:solidFill>
                <a:latin typeface="Calibri"/>
              </a:rPr>
              <a:t>VARCHAR for variable-length text (names, emails)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334155"/>
                </a:solidFill>
                <a:latin typeface="Calibri"/>
              </a:rPr>
              <a:t>• </a:t>
            </a:r>
            <a:r>
              <a:rPr b="0" lang="en-US" sz="1000" spc="-1" strike="noStrike">
                <a:solidFill>
                  <a:srgbClr val="334155"/>
                </a:solidFill>
                <a:latin typeface="Calibri"/>
              </a:rPr>
              <a:t>TEXT for long content (medical notes, diagnoses)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334155"/>
                </a:solidFill>
                <a:latin typeface="Calibri"/>
              </a:rPr>
              <a:t>• </a:t>
            </a:r>
            <a:r>
              <a:rPr b="0" lang="en-US" sz="1000" spc="-1" strike="noStrike">
                <a:solidFill>
                  <a:srgbClr val="334155"/>
                </a:solidFill>
                <a:latin typeface="Calibri"/>
              </a:rPr>
              <a:t>DATE/TIME for temporal data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334155"/>
                </a:solidFill>
                <a:latin typeface="Calibri"/>
              </a:rPr>
              <a:t>• </a:t>
            </a:r>
            <a:r>
              <a:rPr b="0" lang="en-US" sz="1000" spc="-1" strike="noStrike">
                <a:solidFill>
                  <a:srgbClr val="334155"/>
                </a:solidFill>
                <a:latin typeface="Calibri"/>
              </a:rPr>
              <a:t>INT AUTO_INCREMENT for primary keys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Shape 10"/>
          <p:cNvSpPr/>
          <p:nvPr/>
        </p:nvSpPr>
        <p:spPr>
          <a:xfrm>
            <a:off x="457200" y="2834640"/>
            <a:ext cx="3931560" cy="164556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4c7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Shape 11"/>
          <p:cNvSpPr/>
          <p:nvPr/>
        </p:nvSpPr>
        <p:spPr>
          <a:xfrm>
            <a:off x="457200" y="2834640"/>
            <a:ext cx="3931560" cy="319680"/>
          </a:xfrm>
          <a:prstGeom prst="rect">
            <a:avLst/>
          </a:prstGeom>
          <a:solidFill>
            <a:srgbClr val="0284c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" name="Text 12"/>
          <p:cNvSpPr/>
          <p:nvPr/>
        </p:nvSpPr>
        <p:spPr>
          <a:xfrm>
            <a:off x="548640" y="2880360"/>
            <a:ext cx="37486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Unique Constraints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Text 13"/>
          <p:cNvSpPr/>
          <p:nvPr/>
        </p:nvSpPr>
        <p:spPr>
          <a:xfrm>
            <a:off x="594360" y="3246120"/>
            <a:ext cx="365724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334155"/>
                </a:solidFill>
                <a:latin typeface="Calibri"/>
              </a:rPr>
              <a:t>• </a:t>
            </a:r>
            <a:r>
              <a:rPr b="0" lang="en-US" sz="1000" spc="-1" strike="noStrike">
                <a:solidFill>
                  <a:srgbClr val="334155"/>
                </a:solidFill>
                <a:latin typeface="Calibri"/>
              </a:rPr>
              <a:t>Doctor license_number must be unique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334155"/>
                </a:solidFill>
                <a:latin typeface="Calibri"/>
              </a:rPr>
              <a:t>• </a:t>
            </a:r>
            <a:r>
              <a:rPr b="0" lang="en-US" sz="1000" spc="-1" strike="noStrike">
                <a:solidFill>
                  <a:srgbClr val="334155"/>
                </a:solidFill>
                <a:latin typeface="Calibri"/>
              </a:rPr>
              <a:t>Patient email must be unique if provided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334155"/>
                </a:solidFill>
                <a:latin typeface="Calibri"/>
              </a:rPr>
              <a:t>• </a:t>
            </a:r>
            <a:r>
              <a:rPr b="0" lang="en-US" sz="1000" spc="-1" strike="noStrike">
                <a:solidFill>
                  <a:srgbClr val="334155"/>
                </a:solidFill>
                <a:latin typeface="Calibri"/>
              </a:rPr>
              <a:t>Department names must be unique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Shape 14"/>
          <p:cNvSpPr/>
          <p:nvPr/>
        </p:nvSpPr>
        <p:spPr>
          <a:xfrm>
            <a:off x="4754880" y="2834640"/>
            <a:ext cx="3931560" cy="164556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4c7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Shape 15"/>
          <p:cNvSpPr/>
          <p:nvPr/>
        </p:nvSpPr>
        <p:spPr>
          <a:xfrm>
            <a:off x="4754880" y="2834640"/>
            <a:ext cx="3931560" cy="319680"/>
          </a:xfrm>
          <a:prstGeom prst="rect">
            <a:avLst/>
          </a:prstGeom>
          <a:solidFill>
            <a:srgbClr val="0284c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" name="Text 16"/>
          <p:cNvSpPr/>
          <p:nvPr/>
        </p:nvSpPr>
        <p:spPr>
          <a:xfrm>
            <a:off x="4846320" y="2880360"/>
            <a:ext cx="37486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Default Values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Text 17"/>
          <p:cNvSpPr/>
          <p:nvPr/>
        </p:nvSpPr>
        <p:spPr>
          <a:xfrm>
            <a:off x="4892040" y="3246120"/>
            <a:ext cx="365724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334155"/>
                </a:solidFill>
                <a:latin typeface="Calibri"/>
              </a:rPr>
              <a:t>• </a:t>
            </a:r>
            <a:r>
              <a:rPr b="0" lang="en-US" sz="1000" spc="-1" strike="noStrike">
                <a:solidFill>
                  <a:srgbClr val="334155"/>
                </a:solidFill>
                <a:latin typeface="Calibri"/>
              </a:rPr>
              <a:t>Appointment status defaults to 'Scheduled'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334155"/>
                </a:solidFill>
                <a:latin typeface="Calibri"/>
              </a:rPr>
              <a:t>• </a:t>
            </a:r>
            <a:r>
              <a:rPr b="0" lang="en-US" sz="1000" spc="-1" strike="noStrike">
                <a:solidFill>
                  <a:srgbClr val="334155"/>
                </a:solidFill>
                <a:latin typeface="Calibri"/>
              </a:rPr>
              <a:t>TIMESTAMP fields auto-set to CURRENT_TIMESTAMP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334155"/>
                </a:solidFill>
                <a:latin typeface="Calibri"/>
              </a:rPr>
              <a:t>• </a:t>
            </a:r>
            <a:r>
              <a:rPr b="0" lang="en-US" sz="1000" spc="-1" strike="noStrike">
                <a:solidFill>
                  <a:srgbClr val="334155"/>
                </a:solidFill>
                <a:latin typeface="Calibri"/>
              </a:rPr>
              <a:t>Maintains audit trail of record creation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Shape 0"/>
          <p:cNvSpPr/>
          <p:nvPr/>
        </p:nvSpPr>
        <p:spPr>
          <a:xfrm>
            <a:off x="0" y="-540000"/>
            <a:ext cx="9144000" cy="1080000"/>
          </a:xfrm>
          <a:prstGeom prst="rect">
            <a:avLst/>
          </a:prstGeom>
          <a:solidFill>
            <a:srgbClr val="0c4a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" name="Text 1"/>
          <p:cNvSpPr/>
          <p:nvPr/>
        </p:nvSpPr>
        <p:spPr>
          <a:xfrm>
            <a:off x="457200" y="-18540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Calibri"/>
              </a:rPr>
              <a:t>Most Complex Query: Performance Report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Text 2"/>
          <p:cNvSpPr/>
          <p:nvPr/>
        </p:nvSpPr>
        <p:spPr>
          <a:xfrm>
            <a:off x="410760" y="54000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334155"/>
                </a:solidFill>
                <a:latin typeface="Calibri"/>
              </a:rPr>
              <a:t>This query generates a comprehensive doctor performance report by combining multiple tables: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Shape 3"/>
          <p:cNvSpPr/>
          <p:nvPr/>
        </p:nvSpPr>
        <p:spPr>
          <a:xfrm>
            <a:off x="360000" y="900000"/>
            <a:ext cx="8460000" cy="234000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" name="Text 4"/>
          <p:cNvSpPr/>
          <p:nvPr/>
        </p:nvSpPr>
        <p:spPr>
          <a:xfrm>
            <a:off x="540000" y="1234440"/>
            <a:ext cx="804636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ourier New"/>
                <a:ea typeface="Courier New"/>
              </a:rPr>
              <a:t>SELECT 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ourier New"/>
                <a:ea typeface="Courier New"/>
              </a:rPr>
              <a:t>    </a:t>
            </a:r>
            <a:r>
              <a:rPr b="0" lang="en-US" sz="900" spc="-1" strike="noStrike">
                <a:solidFill>
                  <a:srgbClr val="ffffff"/>
                </a:solidFill>
                <a:latin typeface="Courier New"/>
                <a:ea typeface="Courier New"/>
              </a:rPr>
              <a:t>doctors.first_name, doctors.last_name,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ourier New"/>
                <a:ea typeface="Courier New"/>
              </a:rPr>
              <a:t>    </a:t>
            </a:r>
            <a:r>
              <a:rPr b="0" lang="en-US" sz="900" spc="-1" strike="noStrike">
                <a:solidFill>
                  <a:srgbClr val="ffffff"/>
                </a:solidFill>
                <a:latin typeface="Courier New"/>
                <a:ea typeface="Courier New"/>
              </a:rPr>
              <a:t>departments.name AS Department,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ourier New"/>
                <a:ea typeface="Courier New"/>
              </a:rPr>
              <a:t>    </a:t>
            </a:r>
            <a:r>
              <a:rPr b="0" lang="en-US" sz="900" spc="-1" strike="noStrike">
                <a:solidFill>
                  <a:srgbClr val="ffffff"/>
                </a:solidFill>
                <a:latin typeface="Courier New"/>
                <a:ea typeface="Courier New"/>
              </a:rPr>
              <a:t>COUNT(DISTINCT appointments.patient_id) AS Patients_Treated,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ourier New"/>
                <a:ea typeface="Courier New"/>
              </a:rPr>
              <a:t>    </a:t>
            </a:r>
            <a:r>
              <a:rPr b="0" lang="en-US" sz="900" spc="-1" strike="noStrike">
                <a:solidFill>
                  <a:srgbClr val="ffffff"/>
                </a:solidFill>
                <a:latin typeface="Courier New"/>
                <a:ea typeface="Courier New"/>
              </a:rPr>
              <a:t>COUNT(appointments.appointment_id) AS Total_Appointments,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ourier New"/>
                <a:ea typeface="Courier New"/>
              </a:rPr>
              <a:t>    </a:t>
            </a:r>
            <a:r>
              <a:rPr b="0" lang="en-US" sz="900" spc="-1" strike="noStrike">
                <a:solidFill>
                  <a:srgbClr val="ffffff"/>
                </a:solidFill>
                <a:latin typeface="Courier New"/>
                <a:ea typeface="Courier New"/>
              </a:rPr>
              <a:t>COUNT(prescriptions.prescription_id) AS Prescriptions_Written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ourier New"/>
                <a:ea typeface="Courier New"/>
              </a:rPr>
              <a:t>FROM doctors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ourier New"/>
                <a:ea typeface="Courier New"/>
              </a:rPr>
              <a:t>JOIN departments ON doctors.department_id = departments.department_id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ourier New"/>
                <a:ea typeface="Courier New"/>
              </a:rPr>
              <a:t>JOIN appointments ON doctors.doctor_id = appointments.doctor_id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ourier New"/>
                <a:ea typeface="Courier New"/>
              </a:rPr>
              <a:t>LEFT JOIN prescriptions ON appointments.appointment_id = prescriptions.appointment_id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ourier New"/>
                <a:ea typeface="Courier New"/>
              </a:rPr>
              <a:t>GROUP BY doctors.doctor_id, doctors.first_name, doctors.last_name, departments.name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ourier New"/>
                <a:ea typeface="Courier New"/>
              </a:rPr>
              <a:t>HAVING Total_Appointments &gt; 0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ourier New"/>
                <a:ea typeface="Courier New"/>
              </a:rPr>
              <a:t>ORDER BY Patients_Treated DESC, Prescriptions_Written DESC;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Text 5"/>
          <p:cNvSpPr/>
          <p:nvPr/>
        </p:nvSpPr>
        <p:spPr>
          <a:xfrm>
            <a:off x="457200" y="323316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c4a6e"/>
                </a:solidFill>
                <a:latin typeface="Calibri"/>
              </a:rPr>
              <a:t>QUERY FEATURES: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Text 6"/>
          <p:cNvSpPr/>
          <p:nvPr/>
        </p:nvSpPr>
        <p:spPr>
          <a:xfrm>
            <a:off x="457200" y="360000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34155"/>
                </a:solidFill>
                <a:latin typeface="Calibri"/>
              </a:rPr>
              <a:t>✓ </a:t>
            </a:r>
            <a:r>
              <a:rPr b="0" lang="en-US" sz="1200" spc="-1" strike="noStrike">
                <a:solidFill>
                  <a:srgbClr val="334155"/>
                </a:solidFill>
                <a:latin typeface="Calibri"/>
              </a:rPr>
              <a:t>Four-table JOIN (doctors, departments, appointments, prescriptions)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34155"/>
                </a:solidFill>
                <a:latin typeface="Calibri"/>
              </a:rPr>
              <a:t>✓ </a:t>
            </a:r>
            <a:r>
              <a:rPr b="0" lang="en-US" sz="1200" spc="-1" strike="noStrike">
                <a:solidFill>
                  <a:srgbClr val="334155"/>
                </a:solidFill>
                <a:latin typeface="Calibri"/>
              </a:rPr>
              <a:t>GROUP BY to aggregate by doctor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34155"/>
                </a:solidFill>
                <a:latin typeface="Calibri"/>
              </a:rPr>
              <a:t>✓ </a:t>
            </a:r>
            <a:r>
              <a:rPr b="0" lang="en-US" sz="1200" spc="-1" strike="noStrike">
                <a:solidFill>
                  <a:srgbClr val="334155"/>
                </a:solidFill>
                <a:latin typeface="Calibri"/>
              </a:rPr>
              <a:t>COUNT DISTINCT to avoid duplicate patient counting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34155"/>
                </a:solidFill>
                <a:latin typeface="Calibri"/>
              </a:rPr>
              <a:t>✓ </a:t>
            </a:r>
            <a:r>
              <a:rPr b="0" lang="en-US" sz="1200" spc="-1" strike="noStrike">
                <a:solidFill>
                  <a:srgbClr val="334155"/>
                </a:solidFill>
                <a:latin typeface="Calibri"/>
              </a:rPr>
              <a:t>HAVING clause to filter doctors with appointments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34155"/>
                </a:solidFill>
                <a:latin typeface="Calibri"/>
              </a:rPr>
              <a:t>✓ </a:t>
            </a:r>
            <a:r>
              <a:rPr b="0" lang="en-US" sz="1200" spc="-1" strike="noStrike">
                <a:solidFill>
                  <a:srgbClr val="334155"/>
                </a:solidFill>
                <a:latin typeface="Calibri"/>
              </a:rPr>
              <a:t>ORDER BY for ranking doctors by performance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Text 7"/>
          <p:cNvSpPr/>
          <p:nvPr/>
        </p:nvSpPr>
        <p:spPr>
          <a:xfrm>
            <a:off x="540000" y="4674600"/>
            <a:ext cx="8229240" cy="365400"/>
          </a:xfrm>
          <a:prstGeom prst="rect">
            <a:avLst/>
          </a:prstGeom>
          <a:solidFill>
            <a:srgbClr val="06b6d4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334155"/>
                </a:solidFill>
                <a:latin typeface="Calibri"/>
              </a:rPr>
              <a:t>USE CASE: Hospital administration uses this for performance reviews, workload balancing, and resource planning.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Shape 0"/>
          <p:cNvSpPr/>
          <p:nvPr/>
        </p:nvSpPr>
        <p:spPr>
          <a:xfrm>
            <a:off x="0" y="0"/>
            <a:ext cx="9143640" cy="639720"/>
          </a:xfrm>
          <a:prstGeom prst="rect">
            <a:avLst/>
          </a:prstGeom>
          <a:solidFill>
            <a:srgbClr val="0c4a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Text 1"/>
          <p:cNvSpPr/>
          <p:nvPr/>
        </p:nvSpPr>
        <p:spPr>
          <a:xfrm>
            <a:off x="457200" y="13716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Calibri"/>
              </a:rPr>
              <a:t>Live Demo Highlights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Text 2"/>
          <p:cNvSpPr/>
          <p:nvPr/>
        </p:nvSpPr>
        <p:spPr>
          <a:xfrm>
            <a:off x="457200" y="91440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334155"/>
                </a:solidFill>
                <a:latin typeface="Calibri"/>
              </a:rPr>
              <a:t>Watch our video demonstration to see: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Shape 3"/>
          <p:cNvSpPr/>
          <p:nvPr/>
        </p:nvSpPr>
        <p:spPr>
          <a:xfrm>
            <a:off x="457200" y="1371600"/>
            <a:ext cx="4114440" cy="292572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4c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Text 4"/>
          <p:cNvSpPr/>
          <p:nvPr/>
        </p:nvSpPr>
        <p:spPr>
          <a:xfrm>
            <a:off x="640080" y="1554480"/>
            <a:ext cx="3748680" cy="25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334155"/>
                </a:solidFill>
                <a:latin typeface="Calibri"/>
              </a:rPr>
              <a:t>Database Creation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34155"/>
                </a:solidFill>
                <a:latin typeface="Calibri"/>
              </a:rPr>
              <a:t>• </a:t>
            </a:r>
            <a:r>
              <a:rPr b="0" lang="en-US" sz="1200" spc="-1" strike="noStrike">
                <a:solidFill>
                  <a:srgbClr val="334155"/>
                </a:solidFill>
                <a:latin typeface="Calibri"/>
              </a:rPr>
              <a:t>Creating all 6 tables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34155"/>
                </a:solidFill>
                <a:latin typeface="Calibri"/>
              </a:rPr>
              <a:t>• </a:t>
            </a:r>
            <a:r>
              <a:rPr b="0" lang="en-US" sz="1200" spc="-1" strike="noStrike">
                <a:solidFill>
                  <a:srgbClr val="334155"/>
                </a:solidFill>
                <a:latin typeface="Calibri"/>
              </a:rPr>
              <a:t>Setting up foreign keys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34155"/>
                </a:solidFill>
                <a:latin typeface="Calibri"/>
              </a:rPr>
              <a:t>• </a:t>
            </a:r>
            <a:r>
              <a:rPr b="0" lang="en-US" sz="1200" spc="-1" strike="noStrike">
                <a:solidFill>
                  <a:srgbClr val="334155"/>
                </a:solidFill>
                <a:latin typeface="Calibri"/>
              </a:rPr>
              <a:t>Defining constraints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34155"/>
                </a:solidFill>
                <a:latin typeface="Calibri"/>
              </a:rPr>
              <a:t> 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334155"/>
                </a:solidFill>
                <a:latin typeface="Calibri"/>
              </a:rPr>
              <a:t>Data Insertion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34155"/>
                </a:solidFill>
                <a:latin typeface="Calibri"/>
              </a:rPr>
              <a:t>• </a:t>
            </a:r>
            <a:r>
              <a:rPr b="0" lang="en-US" sz="1200" spc="-1" strike="noStrike">
                <a:solidFill>
                  <a:srgbClr val="334155"/>
                </a:solidFill>
                <a:latin typeface="Calibri"/>
              </a:rPr>
              <a:t>10+ realistic records per table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34155"/>
                </a:solidFill>
                <a:latin typeface="Calibri"/>
              </a:rPr>
              <a:t>• </a:t>
            </a:r>
            <a:r>
              <a:rPr b="0" lang="en-US" sz="1200" spc="-1" strike="noStrike">
                <a:solidFill>
                  <a:srgbClr val="334155"/>
                </a:solidFill>
                <a:latin typeface="Calibri"/>
              </a:rPr>
              <a:t>Burkinabè names and locations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34155"/>
                </a:solidFill>
                <a:latin typeface="Calibri"/>
              </a:rPr>
              <a:t>• </a:t>
            </a:r>
            <a:r>
              <a:rPr b="0" lang="en-US" sz="1200" spc="-1" strike="noStrike">
                <a:solidFill>
                  <a:srgbClr val="334155"/>
                </a:solidFill>
                <a:latin typeface="Calibri"/>
              </a:rPr>
              <a:t>Complete medical scenarios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Shape 5"/>
          <p:cNvSpPr/>
          <p:nvPr/>
        </p:nvSpPr>
        <p:spPr>
          <a:xfrm>
            <a:off x="4572000" y="1371600"/>
            <a:ext cx="4114440" cy="292572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4c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Text 6"/>
          <p:cNvSpPr/>
          <p:nvPr/>
        </p:nvSpPr>
        <p:spPr>
          <a:xfrm>
            <a:off x="4754880" y="1554480"/>
            <a:ext cx="3748680" cy="25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334155"/>
                </a:solidFill>
                <a:latin typeface="Calibri"/>
              </a:rPr>
              <a:t>Complex Queries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34155"/>
                </a:solidFill>
                <a:latin typeface="Calibri"/>
              </a:rPr>
              <a:t>• </a:t>
            </a:r>
            <a:r>
              <a:rPr b="0" lang="en-US" sz="1200" spc="-1" strike="noStrike">
                <a:solidFill>
                  <a:srgbClr val="334155"/>
                </a:solidFill>
                <a:latin typeface="Calibri"/>
              </a:rPr>
              <a:t>Multi-table JOINs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34155"/>
                </a:solidFill>
                <a:latin typeface="Calibri"/>
              </a:rPr>
              <a:t>• </a:t>
            </a:r>
            <a:r>
              <a:rPr b="0" lang="en-US" sz="1200" spc="-1" strike="noStrike">
                <a:solidFill>
                  <a:srgbClr val="334155"/>
                </a:solidFill>
                <a:latin typeface="Calibri"/>
              </a:rPr>
              <a:t>Aggregate functions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34155"/>
                </a:solidFill>
                <a:latin typeface="Calibri"/>
              </a:rPr>
              <a:t>• </a:t>
            </a:r>
            <a:r>
              <a:rPr b="0" lang="en-US" sz="1200" spc="-1" strike="noStrike">
                <a:solidFill>
                  <a:srgbClr val="334155"/>
                </a:solidFill>
                <a:latin typeface="Calibri"/>
              </a:rPr>
              <a:t>Performance analytics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34155"/>
                </a:solidFill>
                <a:latin typeface="Calibri"/>
              </a:rPr>
              <a:t> 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334155"/>
                </a:solidFill>
                <a:latin typeface="Calibri"/>
              </a:rPr>
              <a:t>Data Integrity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34155"/>
                </a:solidFill>
                <a:latin typeface="Calibri"/>
              </a:rPr>
              <a:t>• </a:t>
            </a:r>
            <a:r>
              <a:rPr b="0" lang="en-US" sz="1200" spc="-1" strike="noStrike">
                <a:solidFill>
                  <a:srgbClr val="334155"/>
                </a:solidFill>
                <a:latin typeface="Calibri"/>
              </a:rPr>
              <a:t>Referential integrity demo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34155"/>
                </a:solidFill>
                <a:latin typeface="Calibri"/>
              </a:rPr>
              <a:t>• </a:t>
            </a:r>
            <a:r>
              <a:rPr b="0" lang="en-US" sz="1200" spc="-1" strike="noStrike">
                <a:solidFill>
                  <a:srgbClr val="334155"/>
                </a:solidFill>
                <a:latin typeface="Calibri"/>
              </a:rPr>
              <a:t>CASCADE operations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34155"/>
                </a:solidFill>
                <a:latin typeface="Calibri"/>
              </a:rPr>
              <a:t>• </a:t>
            </a:r>
            <a:r>
              <a:rPr b="0" lang="en-US" sz="1200" spc="-1" strike="noStrike">
                <a:solidFill>
                  <a:srgbClr val="334155"/>
                </a:solidFill>
                <a:latin typeface="Calibri"/>
              </a:rPr>
              <a:t>Constraint violations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Shape 7"/>
          <p:cNvSpPr/>
          <p:nvPr/>
        </p:nvSpPr>
        <p:spPr>
          <a:xfrm>
            <a:off x="2286000" y="4572000"/>
            <a:ext cx="4571640" cy="456840"/>
          </a:xfrm>
          <a:prstGeom prst="rect">
            <a:avLst/>
          </a:pr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" name="Text 8"/>
          <p:cNvSpPr/>
          <p:nvPr/>
        </p:nvSpPr>
        <p:spPr>
          <a:xfrm>
            <a:off x="2286000" y="4617720"/>
            <a:ext cx="4571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</a:rPr>
              <a:t>▶ </a:t>
            </a:r>
            <a:r>
              <a:rPr b="1" lang="en-US" sz="1600" spc="-1" strike="noStrike">
                <a:solidFill>
                  <a:srgbClr val="ffffff"/>
                </a:solidFill>
                <a:latin typeface="Calibri"/>
              </a:rPr>
              <a:t>WATCH FULL VIDEO ON YOUTUBE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c4a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 0"/>
          <p:cNvSpPr/>
          <p:nvPr/>
        </p:nvSpPr>
        <p:spPr>
          <a:xfrm>
            <a:off x="8503920" y="1371600"/>
            <a:ext cx="136800" cy="1096920"/>
          </a:xfrm>
          <a:prstGeom prst="rect">
            <a:avLst/>
          </a:prstGeom>
          <a:solidFill>
            <a:srgbClr val="06b6d4">
              <a:alpha val="8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" name="Shape 1"/>
          <p:cNvSpPr/>
          <p:nvPr/>
        </p:nvSpPr>
        <p:spPr>
          <a:xfrm>
            <a:off x="8412480" y="1828800"/>
            <a:ext cx="319680" cy="182520"/>
          </a:xfrm>
          <a:prstGeom prst="rect">
            <a:avLst/>
          </a:prstGeom>
          <a:solidFill>
            <a:srgbClr val="06b6d4">
              <a:alpha val="8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" name="Text 2"/>
          <p:cNvSpPr/>
          <p:nvPr/>
        </p:nvSpPr>
        <p:spPr>
          <a:xfrm>
            <a:off x="457200" y="623160"/>
            <a:ext cx="7772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pc="-1" strike="noStrike">
                <a:solidFill>
                  <a:srgbClr val="ffffff"/>
                </a:solidFill>
                <a:latin typeface="Calibri"/>
              </a:rPr>
              <a:t>Project Summary</a:t>
            </a:r>
            <a:endParaRPr b="0" lang="fr-FR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" name="Text 3"/>
          <p:cNvSpPr/>
          <p:nvPr/>
        </p:nvSpPr>
        <p:spPr>
          <a:xfrm>
            <a:off x="411480" y="134604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06b6d4"/>
                </a:solidFill>
                <a:latin typeface="Calibri"/>
              </a:rPr>
              <a:t>WHAT WE ACCOMPLISHED:</a:t>
            </a:r>
            <a:endParaRPr b="0" lang="fr-FR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" name="Text 4"/>
          <p:cNvSpPr/>
          <p:nvPr/>
        </p:nvSpPr>
        <p:spPr>
          <a:xfrm>
            <a:off x="457200" y="1783080"/>
            <a:ext cx="82292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2001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Calibri"/>
              </a:rPr>
              <a:t>✓ </a:t>
            </a:r>
            <a:r>
              <a:rPr b="0" lang="en-US" sz="1400" spc="-1" strike="noStrike">
                <a:solidFill>
                  <a:srgbClr val="ffffff"/>
                </a:solidFill>
                <a:latin typeface="Calibri"/>
              </a:rPr>
              <a:t>Designed a fully normalized database (1NF, 2NF, 3NF)</a:t>
            </a:r>
            <a:endParaRPr b="0" lang="fr-FR" sz="14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2001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Calibri"/>
              </a:rPr>
              <a:t>✓ </a:t>
            </a:r>
            <a:r>
              <a:rPr b="0" lang="en-US" sz="1400" spc="-1" strike="noStrike">
                <a:solidFill>
                  <a:srgbClr val="ffffff"/>
                </a:solidFill>
                <a:latin typeface="Calibri"/>
              </a:rPr>
              <a:t>Implemented 6 interconnected tables with referential integrity</a:t>
            </a:r>
            <a:endParaRPr b="0" lang="fr-FR" sz="14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2001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Calibri"/>
              </a:rPr>
              <a:t>✓ </a:t>
            </a:r>
            <a:r>
              <a:rPr b="0" lang="en-US" sz="1400" spc="-1" strike="noStrike">
                <a:solidFill>
                  <a:srgbClr val="ffffff"/>
                </a:solidFill>
                <a:latin typeface="Calibri"/>
              </a:rPr>
              <a:t>Created 10+ realistic records per table with authentic data</a:t>
            </a:r>
            <a:endParaRPr b="0" lang="fr-FR" sz="14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2001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Calibri"/>
              </a:rPr>
              <a:t>✓ </a:t>
            </a:r>
            <a:r>
              <a:rPr b="0" lang="en-US" sz="1400" spc="-1" strike="noStrike">
                <a:solidFill>
                  <a:srgbClr val="ffffff"/>
                </a:solidFill>
                <a:latin typeface="Calibri"/>
              </a:rPr>
              <a:t>Demonstrated complex SQL queries (4-table JOINs, aggregates)</a:t>
            </a:r>
            <a:endParaRPr b="0" lang="fr-FR" sz="14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2001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Calibri"/>
              </a:rPr>
              <a:t>✓ </a:t>
            </a:r>
            <a:r>
              <a:rPr b="0" lang="en-US" sz="1400" spc="-1" strike="noStrike">
                <a:solidFill>
                  <a:srgbClr val="ffffff"/>
                </a:solidFill>
                <a:latin typeface="Calibri"/>
              </a:rPr>
              <a:t>Built a scalable solution for real-world hospital management</a:t>
            </a:r>
            <a:endParaRPr b="0" lang="fr-FR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" name="Text 5"/>
          <p:cNvSpPr/>
          <p:nvPr/>
        </p:nvSpPr>
        <p:spPr>
          <a:xfrm>
            <a:off x="457200" y="306000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06b6d4"/>
                </a:solidFill>
                <a:latin typeface="Calibri"/>
              </a:rPr>
              <a:t>SKILLS DEMONSTRATED:</a:t>
            </a:r>
            <a:endParaRPr b="0" lang="fr-FR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" name="Text 6"/>
          <p:cNvSpPr/>
          <p:nvPr/>
        </p:nvSpPr>
        <p:spPr>
          <a:xfrm>
            <a:off x="457200" y="350604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ffffff"/>
                </a:solidFill>
                <a:latin typeface="Calibri"/>
              </a:rPr>
              <a:t>Database Design • Normalization • SQL • Data Modeling • ERD Creation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" name="Shape 7"/>
          <p:cNvSpPr/>
          <p:nvPr/>
        </p:nvSpPr>
        <p:spPr>
          <a:xfrm>
            <a:off x="1371600" y="3860280"/>
            <a:ext cx="6400440" cy="639720"/>
          </a:xfrm>
          <a:prstGeom prst="rect">
            <a:avLst/>
          </a:prstGeom>
          <a:solidFill>
            <a:srgbClr val="4f81bd">
              <a:alpha val="90000"/>
            </a:srgbClr>
          </a:solidFill>
          <a:ln w="25400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" name="Text 8"/>
          <p:cNvSpPr/>
          <p:nvPr/>
        </p:nvSpPr>
        <p:spPr>
          <a:xfrm>
            <a:off x="1554480" y="3960000"/>
            <a:ext cx="6034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ts val="18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</a:rPr>
              <a:t>📁 </a:t>
            </a:r>
            <a:r>
              <a:rPr b="0" lang="en-US" sz="1200" spc="-1" strike="noStrike">
                <a:solidFill>
                  <a:srgbClr val="ffffff"/>
                </a:solidFill>
                <a:latin typeface="Calibri"/>
              </a:rPr>
              <a:t>Complete project available on GitHub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ts val="18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</a:rPr>
              <a:t>https://github.com/zmak5/Hospital_Management_System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" name="Text 9"/>
          <p:cNvSpPr/>
          <p:nvPr/>
        </p:nvSpPr>
        <p:spPr>
          <a:xfrm>
            <a:off x="410760" y="468000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06b6d4"/>
                </a:solidFill>
                <a:latin typeface="Calibri"/>
              </a:rPr>
              <a:t>Thank You!</a:t>
            </a:r>
            <a:endParaRPr b="0" lang="fr-FR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06b6d4"/>
                </a:solidFill>
                <a:latin typeface="Calibri"/>
              </a:rPr>
              <a:t>Professor Kweyakie Afi Blebo</a:t>
            </a:r>
            <a:endParaRPr b="0" lang="fr-FR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</TotalTime>
  <Application>LibreOffice/24.2.7.2$Linux_X86_64 LibreOffice_project/420$Build-2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2026-03-22T07:18:44Z</dcterms:created>
  <dc:creator>Group [Your Group Number]</dc:creator>
  <dc:description/>
  <dc:language>fr-FR</dc:language>
  <cp:lastModifiedBy/>
  <dcterms:modified xsi:type="dcterms:W3CDTF">2026-03-24T23:20:33Z</dcterms:modified>
  <cp:revision>2</cp:revision>
  <dc:subject>PptxGenJS Presentation</dc:subject>
  <dc:title>Hospital Management System - CS27 Project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9</vt:i4>
  </property>
  <property fmtid="{D5CDD505-2E9C-101B-9397-08002B2CF9AE}" pid="3" name="PresentationFormat">
    <vt:lpwstr>On-screen Show (16:9)</vt:lpwstr>
  </property>
  <property fmtid="{D5CDD505-2E9C-101B-9397-08002B2CF9AE}" pid="4" name="Slides">
    <vt:i4>9</vt:i4>
  </property>
</Properties>
</file>